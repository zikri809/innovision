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2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Title P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6096000" y="0"/>
            <a:ext cx="6096000" cy="6552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 rot="10800000">
            <a:off x="363324" y="3787120"/>
            <a:ext cx="1607715" cy="1605280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63325" y="3884295"/>
            <a:ext cx="1607714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2"/>
          <p:cNvCxnSpPr/>
          <p:nvPr/>
        </p:nvCxnSpPr>
        <p:spPr>
          <a:xfrm>
            <a:off x="313562" y="5609526"/>
            <a:ext cx="5477700" cy="99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2"/>
          <p:cNvSpPr txBox="1"/>
          <p:nvPr/>
        </p:nvSpPr>
        <p:spPr>
          <a:xfrm>
            <a:off x="313562" y="5730120"/>
            <a:ext cx="5477638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entury Gothic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 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/>
          <p:nvPr>
            <p:ph type="title"/>
          </p:nvPr>
        </p:nvSpPr>
        <p:spPr>
          <a:xfrm>
            <a:off x="2042604" y="3762909"/>
            <a:ext cx="4053396" cy="1846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Century Gothic"/>
              <a:buNone/>
              <a:defRPr b="1" i="0" sz="62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body"/>
          </p:nvPr>
        </p:nvSpPr>
        <p:spPr>
          <a:xfrm>
            <a:off x="6095999" y="6552843"/>
            <a:ext cx="5912356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llets">
  <p:cSld name="Text Bulle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3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3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4196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44196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44196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44196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No Bullets Picture Under">
  <p:cSld name="Text No Bullets Picture Un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4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4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379304" y="1490869"/>
            <a:ext cx="8384071" cy="186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44196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44196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/>
          <p:nvPr>
            <p:ph idx="2" type="pic"/>
          </p:nvPr>
        </p:nvSpPr>
        <p:spPr>
          <a:xfrm>
            <a:off x="3379788" y="3460750"/>
            <a:ext cx="8383587" cy="3092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" name="Google Shape;44;p4"/>
          <p:cNvSpPr txBox="1"/>
          <p:nvPr>
            <p:ph idx="3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No Bullets">
  <p:cSld name="Text No Bulle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5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" name="Google Shape;47;p5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llets Picture">
  <p:cSld name="Text Bullets Pictur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6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6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4196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441960" lvl="2" marL="1371600" marR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44196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44196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"/>
          <p:cNvSpPr/>
          <p:nvPr>
            <p:ph idx="2" type="pic"/>
          </p:nvPr>
        </p:nvSpPr>
        <p:spPr>
          <a:xfrm>
            <a:off x="761923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0" name="Google Shape;60;p6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6"/>
          <p:cNvSpPr txBox="1"/>
          <p:nvPr>
            <p:ph idx="3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Text Bullets">
  <p:cSld name="Picture Text Bulle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7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7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7639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41960" lvl="1" marL="914400" marR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44196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44196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"/>
          <p:cNvSpPr/>
          <p:nvPr>
            <p:ph idx="2" type="pic"/>
          </p:nvPr>
        </p:nvSpPr>
        <p:spPr>
          <a:xfrm>
            <a:off x="307567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2" name="Google Shape;72;p7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7"/>
          <p:cNvSpPr txBox="1"/>
          <p:nvPr>
            <p:ph idx="3" type="body"/>
          </p:nvPr>
        </p:nvSpPr>
        <p:spPr>
          <a:xfrm>
            <a:off x="3075675" y="6551674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No Bullets Picture">
  <p:cSld name="Text No Bullets Pictur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8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p8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8"/>
          <p:cNvSpPr/>
          <p:nvPr>
            <p:ph idx="2" type="pic"/>
          </p:nvPr>
        </p:nvSpPr>
        <p:spPr>
          <a:xfrm>
            <a:off x="761923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4" name="Google Shape;84;p8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8"/>
          <p:cNvSpPr txBox="1"/>
          <p:nvPr>
            <p:ph idx="3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Text No Bullets">
  <p:cSld name="Picture Text No Bulle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9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9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7639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9"/>
          <p:cNvSpPr/>
          <p:nvPr>
            <p:ph idx="2" type="pic"/>
          </p:nvPr>
        </p:nvSpPr>
        <p:spPr>
          <a:xfrm>
            <a:off x="3075675" y="1335356"/>
            <a:ext cx="438912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6" name="Google Shape;96;p9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9"/>
          <p:cNvSpPr txBox="1"/>
          <p:nvPr>
            <p:ph idx="3" type="body"/>
          </p:nvPr>
        </p:nvSpPr>
        <p:spPr>
          <a:xfrm>
            <a:off x="3075675" y="6558099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llets Picture Under">
  <p:cSld name="Text Bullets Picture Un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10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0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3379304" y="1490869"/>
            <a:ext cx="8384071" cy="186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4196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▪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None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44196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44196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Noto Sans Symbols"/>
              <a:buChar char="❑"/>
              <a:defRPr b="0" i="0" sz="48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0"/>
          <p:cNvSpPr/>
          <p:nvPr>
            <p:ph idx="2" type="pic"/>
          </p:nvPr>
        </p:nvSpPr>
        <p:spPr>
          <a:xfrm>
            <a:off x="3379788" y="3460750"/>
            <a:ext cx="8383587" cy="3092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8" name="Google Shape;108;p10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0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0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0"/>
          <p:cNvSpPr txBox="1"/>
          <p:nvPr>
            <p:ph idx="3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Picture">
  <p:cSld name="Large Pictur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Google Shape;116;p11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11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/>
          <p:nvPr>
            <p:ph idx="2" type="pic"/>
          </p:nvPr>
        </p:nvSpPr>
        <p:spPr>
          <a:xfrm>
            <a:off x="3335482" y="1298864"/>
            <a:ext cx="8427894" cy="5253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9" name="Google Shape;119;p11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1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" name="Google Shape;125;p11"/>
          <p:cNvSpPr txBox="1"/>
          <p:nvPr>
            <p:ph idx="1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Movie">
  <p:cSld name="Large Movi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12"/>
          <p:cNvCxnSpPr/>
          <p:nvPr/>
        </p:nvCxnSpPr>
        <p:spPr>
          <a:xfrm>
            <a:off x="260350" y="1108323"/>
            <a:ext cx="11502900" cy="12600"/>
          </a:xfrm>
          <a:prstGeom prst="curvedConnector3">
            <a:avLst>
              <a:gd fmla="val 49999" name="adj1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2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  <a:defRPr b="1" i="0" sz="5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2"/>
          <p:cNvSpPr/>
          <p:nvPr>
            <p:ph idx="2" type="media"/>
          </p:nvPr>
        </p:nvSpPr>
        <p:spPr>
          <a:xfrm>
            <a:off x="3273136" y="1319646"/>
            <a:ext cx="8490239" cy="535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0" name="Google Shape;130;p12"/>
          <p:cNvSpPr/>
          <p:nvPr/>
        </p:nvSpPr>
        <p:spPr>
          <a:xfrm rot="10800000">
            <a:off x="-2074" y="1108608"/>
            <a:ext cx="2905041" cy="5749391"/>
          </a:xfrm>
          <a:prstGeom prst="round2DiagRect">
            <a:avLst>
              <a:gd fmla="val 8928" name="adj1"/>
              <a:gd fmla="val 0" name="adj2"/>
            </a:avLst>
          </a:prstGeom>
          <a:solidFill>
            <a:srgbClr val="5A577E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t/>
            </a:r>
            <a:endParaRPr b="1" i="0" sz="5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0" y="4894805"/>
            <a:ext cx="2905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C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0" y="5259985"/>
            <a:ext cx="290504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Art of Public Speaking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0" y="5598733"/>
            <a:ext cx="29050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Thirteenth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0" y="6014374"/>
            <a:ext cx="290296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McGraw-Hill Education. All rights reserved. Authorized only for instructor use in the classroom. No reproduction or further distribution permitted without the prior written consent of McGraw-Hill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/>
          <p:nvPr/>
        </p:nvSpPr>
        <p:spPr>
          <a:xfrm rot="-5400000">
            <a:off x="-2293" y="1108322"/>
            <a:ext cx="491877" cy="491877"/>
          </a:xfrm>
          <a:prstGeom prst="arc">
            <a:avLst>
              <a:gd fmla="val 16200000" name="adj1"/>
              <a:gd fmla="val 313858" name="adj2"/>
            </a:avLst>
          </a:prstGeom>
          <a:noFill/>
          <a:ln cap="flat" cmpd="sng" w="12700">
            <a:solidFill>
              <a:srgbClr val="DD4F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>
  <p:cSld name="Whit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ck">
  <p:cSld name="Blac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149" l="0" r="0" t="4150"/>
          <a:stretch/>
        </p:blipFill>
        <p:spPr>
          <a:xfrm>
            <a:off x="6096000" y="0"/>
            <a:ext cx="6096000" cy="655284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>
            <p:ph type="title"/>
          </p:nvPr>
        </p:nvSpPr>
        <p:spPr>
          <a:xfrm>
            <a:off x="2042604" y="3762909"/>
            <a:ext cx="4053396" cy="18466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entury Gothic"/>
              <a:buNone/>
            </a:pPr>
            <a:r>
              <a:rPr lang="en-US" sz="4200"/>
              <a:t>Ethics &amp; Public Speaking</a:t>
            </a:r>
            <a:endParaRPr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6095999" y="6552843"/>
            <a:ext cx="5912356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Drew Angerer/Getty Images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Ethics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80"/>
              <a:buNone/>
            </a:pPr>
            <a:r>
              <a:rPr lang="en-US" sz="4400"/>
              <a:t>Deals with issues of right &amp; wrong in human affairs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Ethical Decisions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3379304" y="1490869"/>
            <a:ext cx="8384071" cy="186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2800"/>
              <a:buFont typeface="Century Gothic"/>
              <a:buNone/>
            </a:pPr>
            <a:r>
              <a:rPr lang="en-US" sz="4000"/>
              <a:t>Weighing potential course of action against ethical standards</a:t>
            </a:r>
            <a:endParaRPr/>
          </a:p>
        </p:txBody>
      </p:sp>
      <p:pic>
        <p:nvPicPr>
          <p:cNvPr id="158" name="Google Shape;158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7978" l="0" r="0" t="17980"/>
          <a:stretch/>
        </p:blipFill>
        <p:spPr>
          <a:xfrm>
            <a:off x="3379788" y="3460750"/>
            <a:ext cx="8383587" cy="3092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idx="3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NurPhoto/Getty Images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Guidelines for Ethical Speaking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108"/>
              <a:buFont typeface="Arial"/>
              <a:buChar char="•"/>
            </a:pPr>
            <a:r>
              <a:rPr lang="en-US" sz="4440"/>
              <a:t>Make ethically sound goals</a:t>
            </a:r>
            <a:endParaRPr/>
          </a:p>
          <a:p>
            <a:pPr indent="-685800" lvl="0" marL="685800" rtl="0" algn="l">
              <a:lnSpc>
                <a:spcPct val="80000"/>
              </a:lnSpc>
              <a:spcBef>
                <a:spcPts val="3400"/>
              </a:spcBef>
              <a:spcAft>
                <a:spcPts val="0"/>
              </a:spcAft>
              <a:buSzPts val="3108"/>
              <a:buFont typeface="Arial"/>
              <a:buChar char="•"/>
            </a:pPr>
            <a:r>
              <a:rPr lang="en-US" sz="4440"/>
              <a:t>Be fully prepared</a:t>
            </a:r>
            <a:endParaRPr/>
          </a:p>
          <a:p>
            <a:pPr indent="-685800" lvl="0" marL="685800" rtl="0" algn="l">
              <a:lnSpc>
                <a:spcPct val="80000"/>
              </a:lnSpc>
              <a:spcBef>
                <a:spcPts val="3400"/>
              </a:spcBef>
              <a:spcAft>
                <a:spcPts val="0"/>
              </a:spcAft>
              <a:buSzPts val="3108"/>
              <a:buFont typeface="Arial"/>
              <a:buChar char="•"/>
            </a:pPr>
            <a:r>
              <a:rPr lang="en-US" sz="4440"/>
              <a:t>Be honest</a:t>
            </a:r>
            <a:endParaRPr/>
          </a:p>
          <a:p>
            <a:pPr indent="-685800" lvl="0" marL="685800" rtl="0" algn="l">
              <a:lnSpc>
                <a:spcPct val="80000"/>
              </a:lnSpc>
              <a:spcBef>
                <a:spcPts val="3400"/>
              </a:spcBef>
              <a:spcAft>
                <a:spcPts val="0"/>
              </a:spcAft>
              <a:buSzPts val="3108"/>
              <a:buFont typeface="Arial"/>
              <a:buChar char="•"/>
            </a:pPr>
            <a:r>
              <a:rPr lang="en-US" sz="4440"/>
              <a:t>Avoid name calling, abusive language</a:t>
            </a:r>
            <a:endParaRPr/>
          </a:p>
          <a:p>
            <a:pPr indent="-685800" lvl="0" marL="685800" rtl="0" algn="l">
              <a:lnSpc>
                <a:spcPct val="80000"/>
              </a:lnSpc>
              <a:spcBef>
                <a:spcPts val="3400"/>
              </a:spcBef>
              <a:spcAft>
                <a:spcPts val="0"/>
              </a:spcAft>
              <a:buSzPts val="3108"/>
              <a:buFont typeface="Arial"/>
              <a:buChar char="•"/>
            </a:pPr>
            <a:r>
              <a:rPr lang="en-US" sz="4440"/>
              <a:t>Put principles into practice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Name-Calling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/>
              <a:t>Using language to defame, demean, degrade individuals or groups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Plagiarism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/>
              <a:t>Presenting language, ideas of another as one’s own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Types of Plagiarism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3067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20"/>
              <a:buFont typeface="Arial"/>
              <a:buChar char="•"/>
            </a:pPr>
            <a:r>
              <a:rPr lang="en-US" sz="4600"/>
              <a:t>Global</a:t>
            </a:r>
            <a:endParaRPr/>
          </a:p>
          <a:p>
            <a:pPr indent="-685800" lvl="0" marL="685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SzPts val="3220"/>
              <a:buFont typeface="Arial"/>
              <a:buChar char="•"/>
            </a:pPr>
            <a:r>
              <a:rPr lang="en-US" sz="4600"/>
              <a:t>Patchwork</a:t>
            </a:r>
            <a:endParaRPr/>
          </a:p>
          <a:p>
            <a:pPr indent="-685800" lvl="0" marL="685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SzPts val="3220"/>
              <a:buFont typeface="Arial"/>
              <a:buChar char="•"/>
            </a:pPr>
            <a:r>
              <a:rPr lang="en-US" sz="4600"/>
              <a:t>Incremental</a:t>
            </a:r>
            <a:endParaRPr/>
          </a:p>
        </p:txBody>
      </p:sp>
      <p:pic>
        <p:nvPicPr>
          <p:cNvPr id="184" name="Google Shape;184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930" r="21930" t="0"/>
          <a:stretch/>
        </p:blipFill>
        <p:spPr>
          <a:xfrm>
            <a:off x="7619235" y="1335356"/>
            <a:ext cx="4389120" cy="52054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>
            <p:ph idx="3" type="body"/>
          </p:nvPr>
        </p:nvSpPr>
        <p:spPr>
          <a:xfrm>
            <a:off x="7619235" y="6552843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Wavebreak Media Ltd./123RF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Global Plagiarism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/>
              <a:t>Stealing from single source, passing off as one’s own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Patchwork Plagiarism</a:t>
            </a:r>
            <a:endParaRPr/>
          </a:p>
        </p:txBody>
      </p:sp>
      <p:sp>
        <p:nvSpPr>
          <p:cNvPr id="197" name="Google Shape;197;p23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/>
              <a:t>Stealing ideas, language from two or three sources, passing off as one’s own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Incremental Plagiarism</a:t>
            </a:r>
            <a:endParaRPr/>
          </a:p>
        </p:txBody>
      </p:sp>
      <p:sp>
        <p:nvSpPr>
          <p:cNvPr id="203" name="Google Shape;203;p24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4F34"/>
              </a:buClr>
              <a:buSzPts val="3360"/>
              <a:buFont typeface="Century Gothic"/>
              <a:buNone/>
            </a:pPr>
            <a:r>
              <a:rPr lang="en-US"/>
              <a:t>Failing to give credit for parts borrowed from other sources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Plagiarism &amp; Internet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3379304" y="1490869"/>
            <a:ext cx="8384071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60"/>
              <a:buFont typeface="Arial"/>
              <a:buChar char="•"/>
            </a:pPr>
            <a:r>
              <a:rPr lang="en-US"/>
              <a:t>Cite sources when using Internet materials</a:t>
            </a:r>
            <a:endParaRPr/>
          </a:p>
          <a:p>
            <a:pPr indent="-685800" lvl="0" marL="685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SzPts val="3360"/>
              <a:buFont typeface="Arial"/>
              <a:buChar char="•"/>
            </a:pPr>
            <a:r>
              <a:rPr lang="en-US"/>
              <a:t>Take careful notes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-2294" y="734"/>
            <a:ext cx="12194293" cy="110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Century Gothic"/>
              <a:buNone/>
            </a:pPr>
            <a:r>
              <a:rPr lang="en-US"/>
              <a:t>Ethical Listening</a:t>
            </a:r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7639578" y="1335356"/>
            <a:ext cx="4389120" cy="5205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lang="en-US" sz="4400"/>
              <a:t>Speech-making a two-way street</a:t>
            </a:r>
            <a:endParaRPr/>
          </a:p>
          <a:p>
            <a:pPr indent="-685800" lvl="0" marL="685800" rtl="0" algn="l">
              <a:lnSpc>
                <a:spcPct val="90000"/>
              </a:lnSpc>
              <a:spcBef>
                <a:spcPts val="340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lang="en-US" sz="4400"/>
              <a:t>Listeners </a:t>
            </a:r>
            <a:br>
              <a:rPr lang="en-US" sz="4400"/>
            </a:br>
            <a:r>
              <a:rPr lang="en-US" sz="4400"/>
              <a:t>have ethical obligations</a:t>
            </a:r>
            <a:endParaRPr/>
          </a:p>
        </p:txBody>
      </p:sp>
      <p:pic>
        <p:nvPicPr>
          <p:cNvPr id="216" name="Google Shape;216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739" r="20739" t="0"/>
          <a:stretch/>
        </p:blipFill>
        <p:spPr>
          <a:xfrm>
            <a:off x="3075675" y="1335356"/>
            <a:ext cx="4389120" cy="520541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>
            <p:ph idx="3" type="body"/>
          </p:nvPr>
        </p:nvSpPr>
        <p:spPr>
          <a:xfrm>
            <a:off x="3075675" y="6551674"/>
            <a:ext cx="438912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© Noam Galai/WireImage/Getty Images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