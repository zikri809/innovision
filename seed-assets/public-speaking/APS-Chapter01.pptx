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7" r:id="rId10"/>
    <p:sldId id="268" r:id="rId11"/>
    <p:sldId id="269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">
  <p:cSld name="Title Pag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 rot="10800000">
            <a:off x="363324" y="3787120"/>
            <a:ext cx="1607715" cy="1605280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363325" y="3884295"/>
            <a:ext cx="1607714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lang="en-US" sz="92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2"/>
          <p:cNvCxnSpPr/>
          <p:nvPr/>
        </p:nvCxnSpPr>
        <p:spPr>
          <a:xfrm>
            <a:off x="313562" y="5609526"/>
            <a:ext cx="5477700" cy="99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"/>
          <p:cNvSpPr txBox="1"/>
          <p:nvPr/>
        </p:nvSpPr>
        <p:spPr>
          <a:xfrm>
            <a:off x="313562" y="5730120"/>
            <a:ext cx="5477638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r>
              <a:rPr lang="en-US"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 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 txBox="1">
            <a:spLocks noGrp="1"/>
          </p:cNvSpPr>
          <p:nvPr>
            <p:ph type="title"/>
          </p:nvPr>
        </p:nvSpPr>
        <p:spPr>
          <a:xfrm>
            <a:off x="2042604" y="3762909"/>
            <a:ext cx="4053396" cy="184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Century Gothic"/>
              <a:buNone/>
              <a:defRPr sz="62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55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ullets">
  <p:cSld name="Text Bulle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3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" name="Google Shape;29;p3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name="adj1" fmla="val 16200000"/>
              <a:gd name="adj2" fmla="val 313858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sz="58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4196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Bullets Picture">
  <p:cSld name="1_Text Bullets Pictur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4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sz="58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067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862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2520"/>
              <a:buFont typeface="Noto Sans Symbols"/>
              <a:buChar char="❑"/>
              <a:defRPr sz="36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7084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D4F34"/>
              </a:buClr>
              <a:buSzPts val="2240"/>
              <a:buFont typeface="Noto Sans Symbols"/>
              <a:buChar char="▪"/>
              <a:defRPr sz="3200" b="0" i="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306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D4F34"/>
              </a:buClr>
              <a:buSzPts val="1960"/>
              <a:buFont typeface="Noto Sans Symbols"/>
              <a:buChar char="▪"/>
              <a:defRPr sz="2800" b="0" i="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44196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name="adj1" fmla="val 16200000"/>
              <a:gd name="adj2" fmla="val 313858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2"/>
          </p:nvPr>
        </p:nvSpPr>
        <p:spPr>
          <a:xfrm>
            <a:off x="7609098" y="1335355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862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2520"/>
              <a:buFont typeface="Noto Sans Symbols"/>
              <a:buChar char="❑"/>
              <a:defRPr sz="36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7084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D4F34"/>
              </a:buClr>
              <a:buSzPts val="2240"/>
              <a:buFont typeface="Noto Sans Symbols"/>
              <a:buChar char="▪"/>
              <a:defRPr sz="3200" b="0" i="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306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D4F34"/>
              </a:buClr>
              <a:buSzPts val="1960"/>
              <a:buFont typeface="Noto Sans Symbols"/>
              <a:buChar char="▪"/>
              <a:defRPr sz="2800" b="0" i="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44196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No Bullets Picture">
  <p:cSld name="Text No Bullets Pictur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5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sz="58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3067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>
            <a:spLocks noGrp="1"/>
          </p:cNvSpPr>
          <p:nvPr>
            <p:ph type="pic" idx="2"/>
          </p:nvPr>
        </p:nvSpPr>
        <p:spPr>
          <a:xfrm>
            <a:off x="7619235" y="1335356"/>
            <a:ext cx="4389120" cy="5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name="adj1" fmla="val 16200000"/>
              <a:gd name="adj2" fmla="val 313858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3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ullets Picture">
  <p:cSld name="Text Bullets Pictur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7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sz="58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"/>
          </p:nvPr>
        </p:nvSpPr>
        <p:spPr>
          <a:xfrm>
            <a:off x="3067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4196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>
            <a:spLocks noGrp="1"/>
          </p:cNvSpPr>
          <p:nvPr>
            <p:ph type="pic" idx="2"/>
          </p:nvPr>
        </p:nvSpPr>
        <p:spPr>
          <a:xfrm>
            <a:off x="7619235" y="1335356"/>
            <a:ext cx="4389120" cy="5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3" name="Google Shape;73;p7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name="adj1" fmla="val 16200000"/>
              <a:gd name="adj2" fmla="val 313858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7"/>
          <p:cNvSpPr txBox="1">
            <a:spLocks noGrp="1"/>
          </p:cNvSpPr>
          <p:nvPr>
            <p:ph type="body" idx="3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Picture">
  <p:cSld name="Large Pictur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8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" name="Google Shape;82;p8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sz="58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>
            <a:spLocks noGrp="1"/>
          </p:cNvSpPr>
          <p:nvPr>
            <p:ph type="pic" idx="2"/>
          </p:nvPr>
        </p:nvSpPr>
        <p:spPr>
          <a:xfrm>
            <a:off x="3335482" y="1298864"/>
            <a:ext cx="8427894" cy="525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4" name="Google Shape;84;p8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name="adj1" fmla="val 16200000"/>
              <a:gd name="adj2" fmla="val 313858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8"/>
          <p:cNvSpPr txBox="1">
            <a:spLocks noGrp="1"/>
          </p:cNvSpPr>
          <p:nvPr>
            <p:ph type="body" idx="1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No Bullets">
  <p:cSld name="Text No Bullet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9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sz="58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 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name="adj1" fmla="val 16200000"/>
              <a:gd name="adj2" fmla="val 313858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Text Bullets">
  <p:cSld name="Picture Text Bullet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0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sz="58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body" idx="1"/>
          </p:nvPr>
        </p:nvSpPr>
        <p:spPr>
          <a:xfrm>
            <a:off x="7639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4196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0"/>
          <p:cNvSpPr>
            <a:spLocks noGrp="1"/>
          </p:cNvSpPr>
          <p:nvPr>
            <p:ph type="pic" idx="2"/>
          </p:nvPr>
        </p:nvSpPr>
        <p:spPr>
          <a:xfrm>
            <a:off x="3075675" y="1335356"/>
            <a:ext cx="4389120" cy="5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6" name="Google Shape;106;p10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0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0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name="adj1" fmla="val 16200000"/>
              <a:gd name="adj2" fmla="val 313858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0"/>
          <p:cNvSpPr txBox="1">
            <a:spLocks noGrp="1"/>
          </p:cNvSpPr>
          <p:nvPr>
            <p:ph type="body" idx="3"/>
          </p:nvPr>
        </p:nvSpPr>
        <p:spPr>
          <a:xfrm>
            <a:off x="3075675" y="6539950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ullets Picture Under">
  <p:cSld name="Text Bullets Picture Und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Google Shape;114;p11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sz="58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"/>
          </p:nvPr>
        </p:nvSpPr>
        <p:spPr>
          <a:xfrm>
            <a:off x="3379304" y="1490869"/>
            <a:ext cx="8384071" cy="1865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4196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1"/>
          <p:cNvSpPr>
            <a:spLocks noGrp="1"/>
          </p:cNvSpPr>
          <p:nvPr>
            <p:ph type="pic" idx="2"/>
          </p:nvPr>
        </p:nvSpPr>
        <p:spPr>
          <a:xfrm>
            <a:off x="3379788" y="3460750"/>
            <a:ext cx="8383587" cy="3092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name="adj1" fmla="val 16200000"/>
              <a:gd name="adj2" fmla="val 313858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p11"/>
          <p:cNvSpPr txBox="1">
            <a:spLocks noGrp="1"/>
          </p:cNvSpPr>
          <p:nvPr>
            <p:ph type="body" idx="3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No Bullets Picture Under">
  <p:cSld name="Text No Bullets Picture Un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12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" name="Google Shape;127;p12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sz="58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body" idx="1"/>
          </p:nvPr>
        </p:nvSpPr>
        <p:spPr>
          <a:xfrm>
            <a:off x="3379304" y="1490869"/>
            <a:ext cx="8384071" cy="1865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None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44196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sz="4800" b="0" i="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2"/>
          <p:cNvSpPr>
            <a:spLocks noGrp="1"/>
          </p:cNvSpPr>
          <p:nvPr>
            <p:ph type="pic" idx="2"/>
          </p:nvPr>
        </p:nvSpPr>
        <p:spPr>
          <a:xfrm>
            <a:off x="3379788" y="3460750"/>
            <a:ext cx="8383587" cy="3079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0" name="Google Shape;130;p12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name="adj1" fmla="val 16200000"/>
              <a:gd name="adj2" fmla="val 313858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12"/>
          <p:cNvSpPr txBox="1">
            <a:spLocks noGrp="1"/>
          </p:cNvSpPr>
          <p:nvPr>
            <p:ph type="body" idx="3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Movie">
  <p:cSld name="Large Movie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13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name="adj1" fmla="val 49999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p13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sz="5800" b="1" i="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3"/>
          <p:cNvSpPr>
            <a:spLocks noGrp="1"/>
          </p:cNvSpPr>
          <p:nvPr>
            <p:ph type="media" idx="2"/>
          </p:nvPr>
        </p:nvSpPr>
        <p:spPr>
          <a:xfrm>
            <a:off x="3273136" y="1319646"/>
            <a:ext cx="8490239" cy="5351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name="adj1" fmla="val 8928"/>
              <a:gd name="adj2" fmla="val 0"/>
            </a:avLst>
          </a:prstGeom>
          <a:solidFill>
            <a:srgbClr val="5A577E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name="adj1" fmla="val 16200000"/>
              <a:gd name="adj2" fmla="val 313858"/>
            </a:avLst>
          </a:prstGeom>
          <a:noFill/>
          <a:ln w="12700" cap="flat" cmpd="sng">
            <a:solidFill>
              <a:srgbClr val="DD4F3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">
  <p:cSld name="White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ck">
  <p:cSld name="Blac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2042604" y="3762909"/>
            <a:ext cx="4053396" cy="184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Century Gothic"/>
              <a:buNone/>
            </a:pPr>
            <a:r>
              <a:rPr lang="en-US"/>
              <a:t>Speaking in Public</a:t>
            </a:r>
            <a:endParaRPr/>
          </a:p>
        </p:txBody>
      </p:sp>
      <p:pic>
        <p:nvPicPr>
          <p:cNvPr id="155" name="Google Shape;155;p1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052" b="7053"/>
          <a:stretch/>
        </p:blipFill>
        <p:spPr>
          <a:xfrm>
            <a:off x="6096000" y="0"/>
            <a:ext cx="6096000" cy="655284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>
            <a:spLocks noGrp="1"/>
          </p:cNvSpPr>
          <p:nvPr>
            <p:ph type="body" idx="1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Courtesy of Josh Shipp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Power of Public Speaking</a:t>
            </a: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685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60"/>
              <a:buFont typeface="Arial"/>
              <a:buChar char="•"/>
            </a:pPr>
            <a:r>
              <a:rPr lang="en-US"/>
              <a:t>Way of making ideas public</a:t>
            </a:r>
            <a:endParaRPr/>
          </a:p>
          <a:p>
            <a:pPr marL="685800" lvl="0" indent="-685800" algn="l" rtl="0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ts val="3360"/>
              <a:buFont typeface="Arial"/>
              <a:buChar char="•"/>
            </a:pPr>
            <a:r>
              <a:rPr lang="en-US"/>
              <a:t>Importance for career</a:t>
            </a:r>
            <a:endParaRPr/>
          </a:p>
          <a:p>
            <a:pPr marL="685800" lvl="0" indent="-685800" algn="l" rtl="0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SzPts val="3360"/>
              <a:buFont typeface="Arial"/>
              <a:buChar char="•"/>
            </a:pPr>
            <a:r>
              <a:rPr lang="en-US"/>
              <a:t>Importance for civic engagement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Public Speaking &amp; Conversation</a:t>
            </a:r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body" idx="1"/>
          </p:nvPr>
        </p:nvSpPr>
        <p:spPr>
          <a:xfrm>
            <a:off x="3067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25"/>
              <a:buNone/>
            </a:pPr>
            <a:r>
              <a:rPr lang="en-US" sz="3607"/>
              <a:t>Similarities:</a:t>
            </a:r>
            <a:endParaRPr/>
          </a:p>
          <a:p>
            <a:pPr marL="1379538" lvl="1" indent="-684213" algn="l" rtl="0">
              <a:lnSpc>
                <a:spcPct val="80000"/>
              </a:lnSpc>
              <a:spcBef>
                <a:spcPts val="1700"/>
              </a:spcBef>
              <a:spcAft>
                <a:spcPts val="0"/>
              </a:spcAft>
              <a:buSzPts val="1942"/>
              <a:buFont typeface="Arial"/>
              <a:buChar char="•"/>
            </a:pPr>
            <a:r>
              <a:rPr lang="en-US" sz="2775"/>
              <a:t>Organize thoughts logically</a:t>
            </a:r>
            <a:endParaRPr/>
          </a:p>
          <a:p>
            <a:pPr marL="1379538" lvl="1" indent="-684213" algn="l" rtl="0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SzPts val="1942"/>
              <a:buFont typeface="Arial"/>
              <a:buChar char="•"/>
            </a:pPr>
            <a:r>
              <a:rPr lang="en-US" sz="2775"/>
              <a:t>Tailor message to audience</a:t>
            </a:r>
            <a:endParaRPr/>
          </a:p>
          <a:p>
            <a:pPr marL="1379538" lvl="1" indent="-684213" algn="l" rtl="0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SzPts val="1942"/>
              <a:buFont typeface="Arial"/>
              <a:buChar char="•"/>
            </a:pPr>
            <a:r>
              <a:rPr lang="en-US" sz="2775"/>
              <a:t>Tell stories for maximum impact</a:t>
            </a:r>
            <a:endParaRPr/>
          </a:p>
          <a:p>
            <a:pPr marL="1379538" lvl="1" indent="-684213" algn="l" rtl="0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SzPts val="1942"/>
              <a:buFont typeface="Arial"/>
              <a:buChar char="•"/>
            </a:pPr>
            <a:r>
              <a:rPr lang="en-US" sz="2775"/>
              <a:t>Adapt to feedback</a:t>
            </a:r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body" idx="2"/>
          </p:nvPr>
        </p:nvSpPr>
        <p:spPr>
          <a:xfrm>
            <a:off x="7609098" y="1335355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96"/>
              <a:buNone/>
            </a:pPr>
            <a:r>
              <a:rPr lang="en-US" sz="3565"/>
              <a:t>Differences:</a:t>
            </a:r>
            <a:endParaRPr/>
          </a:p>
          <a:p>
            <a:pPr marL="1379538" lvl="1" indent="-684213" algn="l" rtl="0">
              <a:lnSpc>
                <a:spcPct val="70000"/>
              </a:lnSpc>
              <a:spcBef>
                <a:spcPts val="1700"/>
              </a:spcBef>
              <a:spcAft>
                <a:spcPts val="0"/>
              </a:spcAft>
              <a:buSzPts val="1953"/>
              <a:buFont typeface="Arial"/>
              <a:buChar char="•"/>
            </a:pPr>
            <a:r>
              <a:rPr lang="en-US" sz="2790"/>
              <a:t>Public speaking more highly structured</a:t>
            </a:r>
            <a:endParaRPr/>
          </a:p>
          <a:p>
            <a:pPr marL="1379538" lvl="1" indent="-684213" algn="l" rtl="0">
              <a:lnSpc>
                <a:spcPct val="70000"/>
              </a:lnSpc>
              <a:spcBef>
                <a:spcPts val="1700"/>
              </a:spcBef>
              <a:spcAft>
                <a:spcPts val="0"/>
              </a:spcAft>
              <a:buSzPts val="1953"/>
              <a:buFont typeface="Arial"/>
              <a:buChar char="•"/>
            </a:pPr>
            <a:r>
              <a:rPr lang="en-US" sz="2790"/>
              <a:t>Public speaking requires more formal language</a:t>
            </a:r>
            <a:endParaRPr/>
          </a:p>
          <a:p>
            <a:pPr marL="1379538" lvl="1" indent="-684213" algn="l" rtl="0">
              <a:lnSpc>
                <a:spcPct val="70000"/>
              </a:lnSpc>
              <a:spcBef>
                <a:spcPts val="1700"/>
              </a:spcBef>
              <a:spcAft>
                <a:spcPts val="0"/>
              </a:spcAft>
              <a:buSzPts val="1953"/>
              <a:buFont typeface="Arial"/>
              <a:buChar char="•"/>
            </a:pPr>
            <a:r>
              <a:rPr lang="en-US" sz="2790"/>
              <a:t>Public speaking requires different method of delivery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Stage Fright</a:t>
            </a:r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3067578" y="1335356"/>
            <a:ext cx="8750048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3080"/>
              <a:buFont typeface="Century Gothic"/>
              <a:buNone/>
            </a:pPr>
            <a:r>
              <a:rPr lang="en-US" sz="4400" dirty="0"/>
              <a:t>Definition: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3080"/>
              <a:buFont typeface="Century Gothic"/>
              <a:buNone/>
            </a:pPr>
            <a:endParaRPr lang="en-US" sz="44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3080"/>
              <a:buFont typeface="Century Gothic"/>
              <a:buNone/>
            </a:pPr>
            <a:r>
              <a:rPr lang="en-US" sz="4400" dirty="0"/>
              <a:t>Anxiety over prospect of speaking in front of audience</a:t>
            </a:r>
            <a:endParaRPr dirty="0"/>
          </a:p>
        </p:txBody>
      </p:sp>
      <p:sp>
        <p:nvSpPr>
          <p:cNvPr id="177" name="Google Shape;177;p19"/>
          <p:cNvSpPr txBox="1">
            <a:spLocks noGrp="1"/>
          </p:cNvSpPr>
          <p:nvPr>
            <p:ph type="body" idx="3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© Christopher Polk/Getty Images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6000"/>
              <a:t>Reducing Speech Anxiety</a:t>
            </a:r>
            <a:endParaRPr/>
          </a:p>
        </p:txBody>
      </p:sp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685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604"/>
              <a:buFont typeface="Arial"/>
              <a:buChar char="•"/>
            </a:pPr>
            <a:r>
              <a:rPr lang="en-US" sz="3720" dirty="0"/>
              <a:t>Acquire experience</a:t>
            </a:r>
            <a:endParaRPr dirty="0"/>
          </a:p>
          <a:p>
            <a:pPr marL="685800" lvl="0" indent="-685800" algn="l" rtl="0">
              <a:lnSpc>
                <a:spcPct val="70000"/>
              </a:lnSpc>
              <a:spcBef>
                <a:spcPts val="3400"/>
              </a:spcBef>
              <a:spcAft>
                <a:spcPts val="0"/>
              </a:spcAft>
              <a:buSzPts val="2604"/>
              <a:buFont typeface="Arial"/>
              <a:buChar char="•"/>
            </a:pPr>
            <a:r>
              <a:rPr lang="en-US" sz="3720" dirty="0"/>
              <a:t>Prepare, prepare, prepare</a:t>
            </a:r>
            <a:endParaRPr dirty="0"/>
          </a:p>
          <a:p>
            <a:pPr marL="685800" lvl="0" indent="-685800" algn="l" rtl="0">
              <a:lnSpc>
                <a:spcPct val="70000"/>
              </a:lnSpc>
              <a:spcBef>
                <a:spcPts val="3400"/>
              </a:spcBef>
              <a:spcAft>
                <a:spcPts val="0"/>
              </a:spcAft>
              <a:buSzPts val="2604"/>
              <a:buFont typeface="Arial"/>
              <a:buChar char="•"/>
            </a:pPr>
            <a:r>
              <a:rPr lang="en-US" sz="3720" dirty="0"/>
              <a:t>Think positively</a:t>
            </a:r>
            <a:endParaRPr dirty="0"/>
          </a:p>
          <a:p>
            <a:pPr marL="685800" lvl="0" indent="-685800" algn="l" rtl="0">
              <a:lnSpc>
                <a:spcPct val="70000"/>
              </a:lnSpc>
              <a:spcBef>
                <a:spcPts val="3400"/>
              </a:spcBef>
              <a:spcAft>
                <a:spcPts val="0"/>
              </a:spcAft>
              <a:buSzPts val="2604"/>
              <a:buFont typeface="Arial"/>
              <a:buChar char="•"/>
            </a:pPr>
            <a:r>
              <a:rPr lang="en-US" sz="3720" dirty="0"/>
              <a:t>Use power of visualization</a:t>
            </a:r>
            <a:endParaRPr dirty="0"/>
          </a:p>
          <a:p>
            <a:pPr marL="685800" lvl="0" indent="-685800" algn="l" rtl="0">
              <a:lnSpc>
                <a:spcPct val="70000"/>
              </a:lnSpc>
              <a:spcBef>
                <a:spcPts val="3400"/>
              </a:spcBef>
              <a:spcAft>
                <a:spcPts val="0"/>
              </a:spcAft>
              <a:buSzPts val="2604"/>
              <a:buFont typeface="Arial"/>
              <a:buChar char="•"/>
            </a:pPr>
            <a:r>
              <a:rPr lang="en-US" sz="3720" dirty="0"/>
              <a:t>Don’t expect perfection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Positive Nervousness</a:t>
            </a:r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body" idx="1"/>
          </p:nvPr>
        </p:nvSpPr>
        <p:spPr>
          <a:xfrm>
            <a:off x="3067578" y="1335356"/>
            <a:ext cx="8680474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</a:pPr>
            <a:r>
              <a:rPr lang="en-US" dirty="0"/>
              <a:t>Controlled nervousness that energizes speaker for presentation</a:t>
            </a:r>
            <a:endParaRPr dirty="0"/>
          </a:p>
        </p:txBody>
      </p:sp>
      <p:sp>
        <p:nvSpPr>
          <p:cNvPr id="193" name="Google Shape;193;p21"/>
          <p:cNvSpPr txBox="1">
            <a:spLocks noGrp="1"/>
          </p:cNvSpPr>
          <p:nvPr>
            <p:ph type="body" idx="3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© Jung Yeon-Je/AFP/Getty Images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Speech Communication Process</a:t>
            </a:r>
            <a:endParaRPr/>
          </a:p>
        </p:txBody>
      </p:sp>
      <p:sp>
        <p:nvSpPr>
          <p:cNvPr id="213" name="Google Shape;213;p24"/>
          <p:cNvSpPr txBox="1">
            <a:spLocks noGrp="1"/>
          </p:cNvSpPr>
          <p:nvPr>
            <p:ph type="body" idx="1"/>
          </p:nvPr>
        </p:nvSpPr>
        <p:spPr>
          <a:xfrm>
            <a:off x="3067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6858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4000"/>
              <a:t>Speaker</a:t>
            </a:r>
            <a:endParaRPr/>
          </a:p>
          <a:p>
            <a:pPr marL="685800" lvl="0" indent="-6858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4000"/>
              <a:t>Message</a:t>
            </a:r>
            <a:endParaRPr/>
          </a:p>
          <a:p>
            <a:pPr marL="685800" lvl="0" indent="-6858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4000"/>
              <a:t>Channel</a:t>
            </a:r>
            <a:endParaRPr/>
          </a:p>
          <a:p>
            <a:pPr marL="685800" lvl="0" indent="-6858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4000"/>
              <a:t>Listener</a:t>
            </a:r>
            <a:endParaRPr/>
          </a:p>
          <a:p>
            <a:pPr marL="685800" lvl="0" indent="-6858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4000"/>
              <a:t>Feedback</a:t>
            </a:r>
            <a:endParaRPr/>
          </a:p>
          <a:p>
            <a:pPr marL="685800" lvl="0" indent="-6858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4000"/>
              <a:t>Interference</a:t>
            </a:r>
            <a:endParaRPr/>
          </a:p>
          <a:p>
            <a:pPr marL="685800" lvl="0" indent="-6858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4000"/>
              <a:t>Situation</a:t>
            </a:r>
            <a:endParaRPr/>
          </a:p>
        </p:txBody>
      </p:sp>
      <p:pic>
        <p:nvPicPr>
          <p:cNvPr id="214" name="Google Shape;214;p2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1930" r="21930"/>
          <a:stretch/>
        </p:blipFill>
        <p:spPr>
          <a:xfrm>
            <a:off x="7619235" y="1335356"/>
            <a:ext cx="4389120" cy="520541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>
            <a:spLocks noGrp="1"/>
          </p:cNvSpPr>
          <p:nvPr>
            <p:ph type="body" idx="3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© Ariel Skelley/Getty Images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Speech Communication Diagram</a:t>
            </a:r>
            <a:endParaRPr/>
          </a:p>
        </p:txBody>
      </p:sp>
      <p:pic>
        <p:nvPicPr>
          <p:cNvPr id="221" name="Google Shape;221;p25" descr="A male and female face each other in a speech communication diagram. Flowing back and forth between the two are messages, channel, and feedback, but also interference. Surrounding this entire flow is the situation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2709" r="12708"/>
          <a:stretch/>
        </p:blipFill>
        <p:spPr>
          <a:xfrm>
            <a:off x="3335482" y="1298864"/>
            <a:ext cx="8427894" cy="525397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>
            <a:spLocks noGrp="1"/>
          </p:cNvSpPr>
          <p:nvPr>
            <p:ph type="body" idx="1"/>
          </p:nvPr>
        </p:nvSpPr>
        <p:spPr>
          <a:xfrm>
            <a:off x="7802880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5"/>
              <a:buNone/>
            </a:pPr>
            <a:r>
              <a:rPr lang="en-US" sz="925"/>
              <a:t>(male) © Ranta Images/Shutterstock; (female) © Lan Images/Shutterstock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Ethnocentrism</a:t>
            </a:r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body" idx="1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</a:pPr>
            <a:r>
              <a:rPr lang="en-US"/>
              <a:t>Believing one’s group or culture is superior to all other groups or cultures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>
            <a:spLocks noGrp="1"/>
          </p:cNvSpPr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Avoiding Ethnocentrism</a:t>
            </a:r>
            <a:endParaRPr/>
          </a:p>
        </p:txBody>
      </p:sp>
      <p:sp>
        <p:nvSpPr>
          <p:cNvPr id="243" name="Google Shape;243;p28"/>
          <p:cNvSpPr txBox="1">
            <a:spLocks noGrp="1"/>
          </p:cNvSpPr>
          <p:nvPr>
            <p:ph type="body" idx="1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6858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604"/>
              <a:buFont typeface="Arial"/>
              <a:buChar char="•"/>
            </a:pPr>
            <a:r>
              <a:rPr lang="en-US" sz="3720"/>
              <a:t>Respect listeners’ cultural values</a:t>
            </a:r>
            <a:endParaRPr/>
          </a:p>
          <a:p>
            <a:pPr marL="685800" lvl="0" indent="-685800" algn="l" rtl="0">
              <a:lnSpc>
                <a:spcPct val="70000"/>
              </a:lnSpc>
              <a:spcBef>
                <a:spcPts val="3400"/>
              </a:spcBef>
              <a:spcAft>
                <a:spcPts val="0"/>
              </a:spcAft>
              <a:buSzPts val="2604"/>
              <a:buFont typeface="Arial"/>
              <a:buChar char="•"/>
            </a:pPr>
            <a:r>
              <a:rPr lang="en-US" sz="3720"/>
              <a:t>Adapt messages to expectations</a:t>
            </a:r>
            <a:endParaRPr/>
          </a:p>
          <a:p>
            <a:pPr marL="685800" lvl="0" indent="-685800" algn="l" rtl="0">
              <a:lnSpc>
                <a:spcPct val="70000"/>
              </a:lnSpc>
              <a:spcBef>
                <a:spcPts val="3400"/>
              </a:spcBef>
              <a:spcAft>
                <a:spcPts val="0"/>
              </a:spcAft>
              <a:buSzPts val="2604"/>
              <a:buFont typeface="Arial"/>
              <a:buChar char="•"/>
            </a:pPr>
            <a:r>
              <a:rPr lang="en-US" sz="3720"/>
              <a:t>Imagine oneself in place of listeners</a:t>
            </a:r>
            <a:endParaRPr/>
          </a:p>
          <a:p>
            <a:pPr marL="685800" lvl="0" indent="-685800" algn="l" rtl="0">
              <a:lnSpc>
                <a:spcPct val="70000"/>
              </a:lnSpc>
              <a:spcBef>
                <a:spcPts val="3400"/>
              </a:spcBef>
              <a:spcAft>
                <a:spcPts val="0"/>
              </a:spcAft>
              <a:buSzPts val="2604"/>
              <a:buFont typeface="Arial"/>
              <a:buChar char="•"/>
            </a:pPr>
            <a:r>
              <a:rPr lang="en-US" sz="3720"/>
              <a:t>Be alert to feedback</a:t>
            </a:r>
            <a:endParaRPr/>
          </a:p>
          <a:p>
            <a:pPr marL="685800" lvl="0" indent="-685800" algn="l" rtl="0">
              <a:lnSpc>
                <a:spcPct val="70000"/>
              </a:lnSpc>
              <a:spcBef>
                <a:spcPts val="3400"/>
              </a:spcBef>
              <a:spcAft>
                <a:spcPts val="0"/>
              </a:spcAft>
              <a:buSzPts val="2604"/>
              <a:buFont typeface="Arial"/>
              <a:buChar char="•"/>
            </a:pPr>
            <a:r>
              <a:rPr lang="en-US" sz="3720"/>
              <a:t>Listeners also have to avoid ethnocentrism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8BCFB-F57C-46F6-B44E-B59B69424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9304" y="1490869"/>
            <a:ext cx="8384071" cy="2186609"/>
          </a:xfrm>
        </p:spPr>
        <p:txBody>
          <a:bodyPr/>
          <a:lstStyle/>
          <a:p>
            <a:pPr marL="15240" indent="0" algn="ctr">
              <a:buNone/>
            </a:pPr>
            <a:endParaRPr lang="en-MY" dirty="0"/>
          </a:p>
          <a:p>
            <a:pPr marL="15240" indent="0" algn="ctr">
              <a:buNone/>
            </a:pPr>
            <a:endParaRPr lang="en-MY" dirty="0"/>
          </a:p>
          <a:p>
            <a:pPr marL="15240" indent="0" algn="ctr">
              <a:buNone/>
            </a:pPr>
            <a:r>
              <a:rPr lang="en-MY" dirty="0"/>
              <a:t>THE END</a:t>
            </a:r>
          </a:p>
          <a:p>
            <a:pPr marL="15240" indent="0" algn="ctr">
              <a:buNone/>
            </a:pPr>
            <a:endParaRPr lang="en-MY" dirty="0"/>
          </a:p>
          <a:p>
            <a:pPr marL="15240" indent="0" algn="ctr">
              <a:buNone/>
            </a:pPr>
            <a:endParaRPr lang="en-MY" dirty="0"/>
          </a:p>
          <a:p>
            <a:pPr marL="15240" indent="0" algn="ctr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36014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200</Words>
  <Application>Microsoft Office PowerPoint</Application>
  <PresentationFormat>Widescreen</PresentationFormat>
  <Paragraphs>55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Noto Sans Symbols</vt:lpstr>
      <vt:lpstr>Calibri</vt:lpstr>
      <vt:lpstr>Trebuchet MS</vt:lpstr>
      <vt:lpstr>Arial</vt:lpstr>
      <vt:lpstr>Century Gothic</vt:lpstr>
      <vt:lpstr>Office Theme</vt:lpstr>
      <vt:lpstr>Speaking in Public</vt:lpstr>
      <vt:lpstr>Power of Public Speaking</vt:lpstr>
      <vt:lpstr>Public Speaking &amp; Conversation</vt:lpstr>
      <vt:lpstr>Stage Fright</vt:lpstr>
      <vt:lpstr>Reducing Speech Anxiety</vt:lpstr>
      <vt:lpstr>Positive Nervousness</vt:lpstr>
      <vt:lpstr>Speech Communication Process</vt:lpstr>
      <vt:lpstr>Speech Communication Diagram</vt:lpstr>
      <vt:lpstr>Ethnocentrism</vt:lpstr>
      <vt:lpstr>Avoiding Ethnocentrism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Speaking in Public</dc:title>
  <cp:lastModifiedBy>lydia.wani123@gmail.com</cp:lastModifiedBy>
  <cp:revision>4</cp:revision>
  <dcterms:modified xsi:type="dcterms:W3CDTF">2021-10-14T07:17:15Z</dcterms:modified>
</cp:coreProperties>
</file>